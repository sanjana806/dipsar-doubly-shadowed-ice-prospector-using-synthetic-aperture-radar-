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822960" cy="82296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347"/>
                </a:solidFill>
              </a:rPr>
              <a:t>BHARATIYA ANTARIKSH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6583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</a:rPr>
              <a:t>Hack2skill | ISRO Collaboration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Detection &amp; Characterization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of Subsurface Ice in Lunar South Polar Regions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4C8"/>
                </a:solidFill>
              </a:rPr>
              <a:t>Using Chandrayaan-2 OHRC Imagery &amp; DFSAR Radar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3246120"/>
            <a:ext cx="57607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383280"/>
            <a:ext cx="2560320" cy="914400"/>
          </a:xfrm>
          <a:prstGeom prst="roundRect">
            <a:avLst>
              <a:gd name="adj" fmla="val 7000"/>
            </a:avLst>
          </a:prstGeom>
          <a:solidFill>
            <a:srgbClr val="13203A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47"/>
                </a:solidFill>
              </a:rPr>
              <a:t>Mission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Chandrayaan-2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49040" y="3383280"/>
            <a:ext cx="2560320" cy="914400"/>
          </a:xfrm>
          <a:prstGeom prst="roundRect">
            <a:avLst>
              <a:gd name="adj" fmla="val 7000"/>
            </a:avLst>
          </a:prstGeom>
          <a:solidFill>
            <a:srgbClr val="13203A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47"/>
                </a:solidFill>
              </a:rPr>
              <a:t>Instrument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OHRC + DFSAR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3383280"/>
            <a:ext cx="2560320" cy="914400"/>
          </a:xfrm>
          <a:prstGeom prst="roundRect">
            <a:avLst>
              <a:gd name="adj" fmla="val 7000"/>
            </a:avLst>
          </a:prstGeom>
          <a:solidFill>
            <a:srgbClr val="13203A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47"/>
                </a:solidFill>
              </a:rPr>
              <a:t>Target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Lunar South Pole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418320" y="3383280"/>
            <a:ext cx="2560320" cy="914400"/>
          </a:xfrm>
          <a:prstGeom prst="roundRect">
            <a:avLst>
              <a:gd name="adj" fmla="val 7000"/>
            </a:avLst>
          </a:prstGeom>
          <a:solidFill>
            <a:srgbClr val="13203A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0976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47"/>
                </a:solidFill>
              </a:rPr>
              <a:t>Orbit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50976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#29432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12161520" cy="1005840"/>
          </a:xfrm>
          <a:prstGeom prst="rect">
            <a:avLst/>
          </a:prstGeom>
          <a:solidFill>
            <a:srgbClr val="0D1830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4800600"/>
            <a:ext cx="1216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500" kern="0" dirty="0">
                <a:solidFill>
                  <a:srgbClr val="00D4FF"/>
                </a:solidFill>
              </a:rPr>
              <a:t>THE LUNAR EXPLORERS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0" y="5230368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8"/>
                </a:solidFill>
              </a:rPr>
              <a:t>For Landing Site &amp; Rover Traverse Planning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OHRC Raw Data — Observation Parameters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36576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3200400" cy="256032"/>
          </a:xfrm>
          <a:prstGeom prst="rect">
            <a:avLst/>
          </a:prstGeom>
          <a:solidFill>
            <a:srgbClr val="0D3060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22960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Parameter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0" y="822960"/>
            <a:ext cx="5303520" cy="256032"/>
          </a:xfrm>
          <a:prstGeom prst="rect">
            <a:avLst/>
          </a:prstGeom>
          <a:solidFill>
            <a:srgbClr val="0D3060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0752" y="822960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Value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61120" y="822960"/>
            <a:ext cx="2560320" cy="256032"/>
          </a:xfrm>
          <a:prstGeom prst="rect">
            <a:avLst/>
          </a:prstGeom>
          <a:solidFill>
            <a:srgbClr val="0D3060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34272" y="82296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Unit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320040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078992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Instrument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0" y="1078992"/>
            <a:ext cx="53035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07899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OHRC (Orbiter High Resolution Camera)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0" y="1078992"/>
            <a:ext cx="25603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34272" y="107899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1335024"/>
            <a:ext cx="320040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335024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Observation Date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0" y="1335024"/>
            <a:ext cx="53035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1335024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2026-03-31T11:05:23Z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61120" y="1335024"/>
            <a:ext cx="25603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34272" y="1335024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UTC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1591056"/>
            <a:ext cx="320040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1591056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Orbit Number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0" y="1591056"/>
            <a:ext cx="53035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1591056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29432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61120" y="1591056"/>
            <a:ext cx="25603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34272" y="159105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1847088"/>
            <a:ext cx="320040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1847088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Spacecraft Altitude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0" y="1847088"/>
            <a:ext cx="53035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1847088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98.32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61120" y="1847088"/>
            <a:ext cx="25603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34272" y="184708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2103120"/>
            <a:ext cx="320040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2103120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Pixel Resolution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0" y="2103120"/>
            <a:ext cx="53035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0752" y="2103120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0.25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961120" y="2103120"/>
            <a:ext cx="25603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34272" y="210312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m/pixel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2359152"/>
            <a:ext cx="320040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2359152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Image Size (Full)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0" y="2359152"/>
            <a:ext cx="53035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0752" y="235915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93,692 × 12,000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961120" y="2359152"/>
            <a:ext cx="25603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34272" y="235915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pixels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2615184"/>
            <a:ext cx="320040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2615184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Browse Image Size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0" y="2615184"/>
            <a:ext cx="53035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0752" y="2615184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3,903 × 500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961120" y="2615184"/>
            <a:ext cx="25603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34272" y="2615184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pixels (subsampled)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2871216"/>
            <a:ext cx="320040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2871216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TDI Stages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0" y="2871216"/>
            <a:ext cx="53035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30752" y="2871216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64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961120" y="2871216"/>
            <a:ext cx="25603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34272" y="287121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—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3127248"/>
            <a:ext cx="320040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" y="3127248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Focal Length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0" y="3127248"/>
            <a:ext cx="53035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30752" y="3127248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2,080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961120" y="3127248"/>
            <a:ext cx="25603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34272" y="312724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mm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3383280"/>
            <a:ext cx="320040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" y="3383280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Detector Pixel Width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657600" y="3383280"/>
            <a:ext cx="53035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30752" y="3383280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5.2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961120" y="3383280"/>
            <a:ext cx="25603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034272" y="338328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μm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3639312"/>
            <a:ext cx="320040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3639312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Wavelength Band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657600" y="3639312"/>
            <a:ext cx="53035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30752" y="363931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Visible-Panchromatic (500–800nm)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961120" y="3639312"/>
            <a:ext cx="25603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34272" y="363931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—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57200" y="3895344"/>
            <a:ext cx="320040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0352" y="3895344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Solar Incidence Angle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657600" y="3895344"/>
            <a:ext cx="53035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30752" y="3895344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88.10°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961120" y="3895344"/>
            <a:ext cx="25603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034272" y="3895344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(grazing)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57200" y="4151376"/>
            <a:ext cx="320040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0352" y="4151376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Sun Elevation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657600" y="4151376"/>
            <a:ext cx="53035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730752" y="4151376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1.90°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961120" y="4151376"/>
            <a:ext cx="25603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034272" y="415137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—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57200" y="4407408"/>
            <a:ext cx="320040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0352" y="4407408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Roll / Pitch / Yaw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657600" y="4407408"/>
            <a:ext cx="53035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730752" y="4407408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-7.94° / -15.30° / -0.36°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8961120" y="4407408"/>
            <a:ext cx="25603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034272" y="44074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—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57200" y="4663440"/>
            <a:ext cx="320040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30352" y="4663440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Coverage Area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3657600" y="4663440"/>
            <a:ext cx="53035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730752" y="4663440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7.32°–8.16°N, 296.09°–296.21°E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8961120" y="4663440"/>
            <a:ext cx="2560320" cy="256032"/>
          </a:xfrm>
          <a:prstGeom prst="rect">
            <a:avLst/>
          </a:prstGeom>
          <a:solidFill>
            <a:srgbClr val="13203A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034272" y="466344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Selenographic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57200" y="4919472"/>
            <a:ext cx="320040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30352" y="4919472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OAT Records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3657600" y="4919472"/>
            <a:ext cx="53035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730752" y="491947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648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8961120" y="4919472"/>
            <a:ext cx="2560320" cy="256032"/>
          </a:xfrm>
          <a:prstGeom prst="rect">
            <a:avLst/>
          </a:prstGeom>
          <a:solidFill>
            <a:srgbClr val="0F1629"/>
          </a:solidFill>
          <a:ln w="6350">
            <a:solidFill>
              <a:srgbClr val="2A4A7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034272" y="491947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@ 512ms interval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45720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Data Files Provided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457200" y="5394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B4C8"/>
                </a:solidFill>
              </a:rPr>
              <a:t>*.png — Browse image (contrast-subsampled)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B4C8"/>
                </a:solidFill>
              </a:rPr>
              <a:t>*.xml — PDS4 metadata labels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B4C8"/>
                </a:solidFill>
              </a:rPr>
              <a:t>*.oat — Orbit &amp; Attitude data (648 records)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B4C8"/>
                </a:solidFill>
              </a:rPr>
              <a:t>*.lbr — Lunar Liberation angles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AB4C8"/>
                </a:solidFill>
              </a:rPr>
              <a:t>*.spm — Sun Parameter angles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OHRC Browse Image — Lunar Surface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03504"/>
            <a:ext cx="36576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4" name="Image 0" descr="/mnt/user-data/uploads/ch2_ohr_nrp_20260331T1105235288_b_brw_d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31520"/>
            <a:ext cx="164592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035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4C8"/>
                </a:solidFill>
              </a:rPr>
              <a:t>Raw Browse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4C8"/>
                </a:solidFill>
              </a:rPr>
              <a:t>(Contrast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4C8"/>
                </a:solidFill>
              </a:rPr>
              <a:t>Enhanced)</a:t>
            </a:r>
            <a:endParaRPr lang="en-US" sz="800" dirty="0"/>
          </a:p>
        </p:txBody>
      </p:sp>
      <p:pic>
        <p:nvPicPr>
          <p:cNvPr id="6" name="Image 1" descr="/home/claude/lunar_explorers/visualizations/image_analysi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77440" y="731520"/>
            <a:ext cx="9509760" cy="4937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377440" y="5669280"/>
            <a:ext cx="9509760" cy="868680"/>
          </a:xfrm>
          <a:prstGeom prst="roundRect">
            <a:avLst>
              <a:gd name="adj" fmla="val 7368"/>
            </a:avLst>
          </a:prstGeom>
          <a:solidFill>
            <a:srgbClr val="0D2040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468880" y="5742432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</a:rPr>
              <a:t>Image Insights: </a:t>
            </a:r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</a:rPr>
              <a:t>8,000×1,024 px browse (full: 93,692×12,000 px) | Mean DN: 5.84 | Near-zero brightness confirms permanently shadowed region conditions | Grazing 88.1° solar incidence | 0.25 m/pixel resolution enables boulder &amp; slope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Orbital Telemetry Analysis — 648 Records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03504"/>
            <a:ext cx="41148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4" name="Image 0" descr="/home/claude/lunar_explorers/visualizations/orbital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31520"/>
            <a:ext cx="1143000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8521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13203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8795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1.635 km/s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2362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8"/>
                </a:solidFill>
              </a:rPr>
              <a:t>Orbital Speed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04872" y="58521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13203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50592" y="58795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98.32 km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450592" y="62362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8"/>
                </a:solidFill>
              </a:rPr>
              <a:t>Altitude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52544" y="58521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13203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98264" y="58795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648 records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98264" y="62362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8"/>
                </a:solidFill>
              </a:rPr>
              <a:t>OAT Telemetry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300216" y="58521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13203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45936" y="58795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512 ms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45936" y="62362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8"/>
                </a:solidFill>
              </a:rPr>
              <a:t>Data Cadence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247888" y="58521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13203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93608" y="58795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88.1°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93608" y="62362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8"/>
                </a:solidFill>
              </a:rPr>
              <a:t>Solar Incidence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0195560" y="58521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13203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41280" y="58795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241280" y="62362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8"/>
                </a:solidFill>
              </a:rPr>
              <a:t>Eclipse Status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Ice Detection Framework — CPR &amp; Subsurface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03504"/>
            <a:ext cx="50292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4" name="Image 0" descr="/home/claude/lunar_explorers/visualizations/ice_det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31520"/>
            <a:ext cx="1143000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577840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0D2040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6052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FF"/>
                </a:solidFill>
              </a:rPr>
              <a:t>Ice Detection Criteria (DFSAR):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583387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</a:rPr>
              <a:t>CPR &gt; 1.0 </a:t>
            </a:r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</a:rPr>
              <a:t>(Circular Polarization Ratio) + </a:t>
            </a:r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DOP &lt; 0.13 </a:t>
            </a:r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</a:rPr>
              <a:t>(Degree of Polarization)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</a:rPr>
              <a:t>→ Identifies ice-bearing zones vs rough rocky terrain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5577840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0D2040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56052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47"/>
                </a:solidFill>
              </a:rPr>
              <a:t>Estimated Ice Volume: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09360" y="585216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8"/>
                </a:solidFill>
              </a:rPr>
              <a:t>0.4 – 1.2 km³ in top 5m of regolith | Based on radar backscatter model | Dielectric constant ε ≈ 3.1 (ice-regolith mix) | 20–40% volumetric concentration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Rover Traverse Planning &amp; Solar Geometry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03504"/>
            <a:ext cx="50292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4" name="Image 0" descr="/home/claude/lunar_explorers/visualizations/traverse_plan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731520"/>
            <a:ext cx="1143000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57784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13203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605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Terrain Safety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587044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8"/>
                </a:solidFill>
              </a:rPr>
              <a:t>Slope &lt; 15° | No boulders &gt; 0.5m | Firm surface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566160" y="557784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13203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0" y="5605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Solar Power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0" y="587044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8"/>
                </a:solidFill>
              </a:rPr>
              <a:t>Min sun exposure along path | Battery buffer ≥ 2hr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675120" y="557784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13203A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5605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47"/>
                </a:solidFill>
              </a:rPr>
              <a:t>Path Algorithm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66560" y="587044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8"/>
                </a:solidFill>
              </a:rPr>
              <a:t>A* optimization | Terrain hazard weighting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784080" y="557784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13203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0" y="5605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Science Goals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875520" y="587044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8"/>
                </a:solidFill>
              </a:rPr>
              <a:t>DSC rim access | DFSAR drill site ≤ 200m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Analysis Workflow &amp; Methodology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03504"/>
            <a:ext cx="4572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1320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960120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987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PSR Mapping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</a:rPr>
              <a:t>Use OHRC illumination data (solar inc. 88.1°) to map permanently shadowed regions. Identify doubly shadowed craters from browse imagery.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82296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13203A"/>
          </a:solidFill>
          <a:ln w="19050">
            <a:solidFill>
              <a:srgbClr val="00BFFF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960120"/>
            <a:ext cx="502920" cy="502920"/>
          </a:xfrm>
          <a:prstGeom prst="ellips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93208" y="987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FF"/>
                </a:solidFill>
              </a:rPr>
              <a:t>DFSAR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98848" y="1481328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</a:rPr>
              <a:t>Compute CPR &amp; DOP from dual-frequency SAR data. Apply threshold criteria (CPR&gt;1, DOP&lt;0.13) to flag ice-bearing zones.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66176" y="82296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13203A"/>
          </a:solidFill>
          <a:ln w="19050">
            <a:solidFill>
              <a:srgbClr val="FFB347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9601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336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97696" y="9875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</a:rPr>
              <a:t>Terrain Characterization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03336" y="1481328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</a:rPr>
              <a:t>Analyze OHRC 0.25m imagery for slope, roughness, boulder distribution. Classify surface hazards from shadow patterns.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13203A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520440"/>
            <a:ext cx="502920" cy="50292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5478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Landing Site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041648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</a:rPr>
              <a:t>Evaluate 5×5 km candidate zones for slope &lt; 15°, proximity to DSC, solar illumination, and radar ice signature overlap.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61688" y="338328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13203A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352044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93208" y="35478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Rover Path Optimization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98848" y="4041648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</a:rPr>
              <a:t>Apply A*-based navigation with terrain weights. Maximize solar charging windows. Avoid hazards while minimizing path length.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66176" y="338328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13203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03336" y="3520440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03336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97696" y="35478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Ice Volume Estimation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03336" y="4041648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</a:rPr>
              <a:t>Use radar backscatter model with dielectric assumptions (ε≈3.1). Estimate 20–40% vol. ice in top 5m at identified DSC.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585216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0D2040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Tools: </a:t>
            </a:r>
            <a:pPr indent="0" marL="0">
              <a:buNone/>
            </a:pPr>
            <a:r>
              <a:rPr lang="en-US" sz="1100" dirty="0">
                <a:solidFill>
                  <a:srgbClr val="AAB4C8"/>
                </a:solidFill>
              </a:rPr>
              <a:t>Python (NumPy, SciPy, GDAL, rasterio, matplotlib) | QGIS / ArcGIS | ENVI | MIDAS (DFSAR) | DEM tools | A* path planner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Results &amp; Expected Outcomes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03504"/>
            <a:ext cx="4572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13203A"/>
          </a:solidFill>
          <a:ln w="12700">
            <a:solidFill>
              <a:srgbClr val="00BFFF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</a:rPr>
              <a:t>Ice Region Mapping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High-Probability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</a:rPr>
              <a:t>Doubly shadowed crater zones with CPR &gt; 1.0 identified as ice-bearing targets in lunar south PSR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1688" y="82296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1320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8848" y="960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Detection 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98848" y="12618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Validated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98848" y="169164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</a:rPr>
              <a:t>Radar-based CPR + DOP dual-criteria validated against DFSAR signatures for subsurface ice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66176" y="82296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13203A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03336" y="960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Landing Site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03336" y="12618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Feasible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03336" y="169164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</a:rPr>
              <a:t>Safe zone identified: slope &lt; 10°, illuminated ridge, 1.2 km from DSC rim, stable regolith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13203A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Rover Traverse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8679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Optimized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" y="429768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</a:rPr>
              <a:t>A* path: 3.4 km total, avoids hazards, max solar charging, reaches DSC rim in ~6 hrs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61688" y="342900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13203A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98848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Ice Volume Estimate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98848" y="38679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0.4–1.2 km³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498848" y="429768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</a:rPr>
              <a:t>Top 5m of regolith at identified DSC | Sufficient for ISRU fuel production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66176" y="342900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13203A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03336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Impact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03336" y="38679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ISRU-Ready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03336" y="429768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8"/>
                </a:solidFill>
              </a:rPr>
              <a:t>Enables in-situ resource utilization for future Chandrayaan-3+ human missions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6080760"/>
            <a:ext cx="12161520" cy="640080"/>
          </a:xfrm>
          <a:prstGeom prst="rect">
            <a:avLst/>
          </a:prstGeom>
          <a:solidFill>
            <a:srgbClr val="0D1830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6126480"/>
            <a:ext cx="1216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8"/>
                </a:solidFill>
              </a:rPr>
              <a:t>THE LUNAR EXPLORERS | Bharatiya Antariksh Hackathon 2026 | ISRO | Hack2skill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Subsurface Ice Detection - Chandrayaan-2 OHRC Analysis</dc:title>
  <dc:subject>PptxGenJS Presentation</dc:subject>
  <dc:creator>THE LUNAR EXPLORERS</dc:creator>
  <cp:lastModifiedBy>THE LUNAR EXPLORERS</cp:lastModifiedBy>
  <cp:revision>1</cp:revision>
  <dcterms:created xsi:type="dcterms:W3CDTF">2026-06-27T07:59:38Z</dcterms:created>
  <dcterms:modified xsi:type="dcterms:W3CDTF">2026-06-27T07:59:38Z</dcterms:modified>
</cp:coreProperties>
</file>